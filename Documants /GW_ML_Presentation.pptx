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BBH</c:v>
                  </c:pt>
                  <c:pt idx="1">
                    <c:v>BNS</c:v>
                  </c:pt>
                  <c:pt idx="2">
                    <c:v>Noise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</c:v>
                </c:pt>
                <c:pt idx="1">
                  <c:v>4969</c:v>
                </c:pt>
                <c:pt idx="2">
                  <c:v>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1E88E5"/>
            </a:solidFill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1.1061</c:v>
                </c:pt>
                <c:pt idx="1">
                  <c:v>1.0728</c:v>
                </c:pt>
                <c:pt idx="2">
                  <c:v>1.0083</c:v>
                </c:pt>
                <c:pt idx="3">
                  <c:v>0.917</c:v>
                </c:pt>
                <c:pt idx="4">
                  <c:v>0.801</c:v>
                </c:pt>
                <c:pt idx="5">
                  <c:v>0.7041</c:v>
                </c:pt>
                <c:pt idx="6">
                  <c:v>0.6228</c:v>
                </c:pt>
                <c:pt idx="7">
                  <c:v>0.5508</c:v>
                </c:pt>
                <c:pt idx="8">
                  <c:v>0.4886</c:v>
                </c:pt>
                <c:pt idx="9">
                  <c:v>0.4521</c:v>
                </c:pt>
                <c:pt idx="10">
                  <c:v>0.413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E53935"/>
            </a:solidFill>
            <a:ln w="25400" cap="flat">
              <a:solidFill>
                <a:srgbClr val="E539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3935"/>
              </a:solidFill>
              <a:ln w="9525" cap="flat">
                <a:solidFill>
                  <a:srgbClr val="E539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1.11</c:v>
                </c:pt>
                <c:pt idx="1">
                  <c:v>1.1458</c:v>
                </c:pt>
                <c:pt idx="2">
                  <c:v>1.192</c:v>
                </c:pt>
                <c:pt idx="3">
                  <c:v>1.2833</c:v>
                </c:pt>
                <c:pt idx="4">
                  <c:v>1.3257</c:v>
                </c:pt>
                <c:pt idx="5">
                  <c:v>1.4825</c:v>
                </c:pt>
                <c:pt idx="6">
                  <c:v>1.4882</c:v>
                </c:pt>
                <c:pt idx="7">
                  <c:v>1.5557</c:v>
                </c:pt>
                <c:pt idx="8">
                  <c:v>1.6338</c:v>
                </c:pt>
                <c:pt idx="9">
                  <c:v>1.7397</c:v>
                </c:pt>
                <c:pt idx="10">
                  <c:v>1.7073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"/>
          <c:min val="0.3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1E88E5"/>
            </a:solidFill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0.7</c:v>
                </c:pt>
                <c:pt idx="1">
                  <c:v>0.696</c:v>
                </c:pt>
                <c:pt idx="2">
                  <c:v>0.695</c:v>
                </c:pt>
                <c:pt idx="3">
                  <c:v>0.695</c:v>
                </c:pt>
                <c:pt idx="4">
                  <c:v>0.695</c:v>
                </c:pt>
                <c:pt idx="5">
                  <c:v>0.694</c:v>
                </c:pt>
                <c:pt idx="6">
                  <c:v>0.694</c:v>
                </c:pt>
                <c:pt idx="7">
                  <c:v>0.694</c:v>
                </c:pt>
                <c:pt idx="8">
                  <c:v>0.694</c:v>
                </c:pt>
                <c:pt idx="9">
                  <c:v>0.693</c:v>
                </c:pt>
                <c:pt idx="10">
                  <c:v>0.694</c:v>
                </c:pt>
                <c:pt idx="11">
                  <c:v>0.693</c:v>
                </c:pt>
                <c:pt idx="12">
                  <c:v>0.694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E53935"/>
            </a:solidFill>
            <a:ln w="25400" cap="flat">
              <a:solidFill>
                <a:srgbClr val="E539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3935"/>
              </a:solidFill>
              <a:ln w="9525" cap="flat">
                <a:solidFill>
                  <a:srgbClr val="E539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0.692</c:v>
                </c:pt>
                <c:pt idx="1">
                  <c:v>0.715</c:v>
                </c:pt>
                <c:pt idx="2">
                  <c:v>0.696</c:v>
                </c:pt>
                <c:pt idx="3">
                  <c:v>0.698</c:v>
                </c:pt>
                <c:pt idx="4">
                  <c:v>0.687</c:v>
                </c:pt>
                <c:pt idx="5">
                  <c:v>0.675</c:v>
                </c:pt>
                <c:pt idx="6">
                  <c:v>0.696</c:v>
                </c:pt>
                <c:pt idx="7">
                  <c:v>0.703</c:v>
                </c:pt>
                <c:pt idx="8">
                  <c:v>0.687</c:v>
                </c:pt>
                <c:pt idx="9">
                  <c:v>0.678</c:v>
                </c:pt>
                <c:pt idx="10">
                  <c:v>0.687</c:v>
                </c:pt>
                <c:pt idx="11">
                  <c:v>0.683</c:v>
                </c:pt>
                <c:pt idx="12">
                  <c:v>0.688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Kurtosis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Glitch
(Noise)</c:v>
                  </c:pt>
                  <c:pt idx="1">
                    <c:v>BBH</c:v>
                  </c:pt>
                  <c:pt idx="2">
                    <c:v>BNS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</c:v>
                </c:pt>
                <c:pt idx="1">
                  <c:v>0.4</c:v>
                </c:pt>
                <c:pt idx="2">
                  <c:v>0.67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Crest Factor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Glitch
(Noise)</c:v>
                  </c:pt>
                  <c:pt idx="1">
                    <c:v>BBH</c:v>
                  </c:pt>
                  <c:pt idx="2">
                    <c:v>BNS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4.44</c:v>
                </c:pt>
                <c:pt idx="1">
                  <c:v>4.37</c:v>
                </c:pt>
                <c:pt idx="2">
                  <c:v>4.68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9999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Random
Forest
(3-class)</c:v>
                  </c:pt>
                  <c:pt idx="1">
                    <c:v>CNN-BiLSTM
(3-class)</c:v>
                  </c:pt>
                  <c:pt idx="2">
                    <c:v>ResNet-18
(3-class)</c:v>
                  </c:pt>
                  <c:pt idx="3">
                    <c:v>CNN-BiLSTM
(Binary)</c:v>
                  </c:pt>
                  <c:pt idx="4">
                    <c:v>Random
Baseline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32.9</c:v>
                </c:pt>
                <c:pt idx="2">
                  <c:v>35.6</c:v>
                </c:pt>
                <c:pt idx="3">
                  <c:v>66.6</c:v>
                </c:pt>
                <c:pt idx="4">
                  <c:v>33.3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BBH</c:v>
                  </c:pt>
                  <c:pt idx="1">
                    <c:v>BNS</c:v>
                  </c:pt>
                  <c:pt idx="2">
                    <c:v>Glitch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77.4</c:v>
                </c:pt>
                <c:pt idx="2">
                  <c:v>28.2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Gravitational waves were first detected in 2015 — this project builds an ML pipeline to automatically classify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traditional matched filtering is the gold standard but has limitations. Our ML pipeline aims to learn these features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data sources: synthetic PyCBC injections and real LIGO O1 data. Mention the SNR range is physically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CNN-BiLSTM is the main model. The 1D convolutions extract local features, the BiLSTM integrates over time — this is why it can in theory approximate matched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both curves. ResNet overfits badly. CNN-BiLSTM is completely stuck. This motivates the diagnostic analysis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slide. The diagnostic shows that all three classes are statistically identical after whitening. The signal is buried 0.23 standard deviations below noise per sample — no local feature can detect it. This is why matched filtering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models fail. The binary result looks better but is just predicting the majority class. Honest result: the pipeline works but needs matched-filter features to succeed.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the pipeline works, the result is scientifically meaningful, and the path forward is clear. 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6459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828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8229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12801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743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10058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8404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347472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411480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29260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466344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448056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3383280"/>
            <a:ext cx="36576" cy="3657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12700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Wave Detection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4700  ·  Kayd Craig  ·  July 2026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3657600"/>
            <a:ext cx="2011680" cy="457200"/>
          </a:xfrm>
          <a:prstGeom prst="roundRect">
            <a:avLst/>
          </a:prstGeom>
          <a:solidFill>
            <a:srgbClr val="1E88E5">
              <a:alpha val="7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Mergers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3657600"/>
            <a:ext cx="2011680" cy="457200"/>
          </a:xfrm>
          <a:prstGeom prst="roundRect">
            <a:avLst/>
          </a:prstGeom>
          <a:solidFill>
            <a:srgbClr val="43A047">
              <a:alpha val="7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Inspirals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657600"/>
            <a:ext cx="2011680" cy="457200"/>
          </a:xfrm>
          <a:prstGeom prst="roundRect">
            <a:avLst/>
          </a:prstGeom>
          <a:solidFill>
            <a:srgbClr val="E53935">
              <a:alpha val="7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/ Noise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329184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Matched filtering 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template bank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Computationally expensive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Misses novel signals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32918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Approach (This Project)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Learns features from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real-time inference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Generalizes beyond templates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1-second LIGO strain segments as BBH · BNS · Noise at SNR 8–30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463040" cy="1371600"/>
          </a:xfrm>
          <a:prstGeom prst="roundRect">
            <a:avLst/>
          </a:prstGeom>
          <a:solidFill>
            <a:srgbClr val="1E88E5">
              <a:alpha val="85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601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PyCBC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BBH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BNS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Noise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1600200"/>
            <a:ext cx="27432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47088" y="150876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1463040" cy="1371600"/>
          </a:xfrm>
          <a:prstGeom prst="roundRect">
            <a:avLst/>
          </a:prstGeom>
          <a:solidFill>
            <a:srgbClr val="00BCD4">
              <a:alpha val="85000"/>
            </a:srgbClr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9601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554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20–500 Hz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600200"/>
            <a:ext cx="27432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50876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914400"/>
            <a:ext cx="1463040" cy="1371600"/>
          </a:xfrm>
          <a:prstGeom prst="roundRect">
            <a:avLst/>
          </a:prstGeom>
          <a:solidFill>
            <a:srgbClr val="43A047">
              <a:alpha val="85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9601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1554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1600200"/>
            <a:ext cx="27432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150876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914400"/>
            <a:ext cx="1463040" cy="1371600"/>
          </a:xfrm>
          <a:prstGeom prst="roundRect">
            <a:avLst/>
          </a:prstGeom>
          <a:solidFill>
            <a:srgbClr val="FFB300">
              <a:alpha val="85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9601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1554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segment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1600200"/>
            <a:ext cx="27432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508760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914400"/>
            <a:ext cx="1463040" cy="1371600"/>
          </a:xfrm>
          <a:prstGeom prst="roundRect">
            <a:avLst/>
          </a:prstGeom>
          <a:solidFill>
            <a:srgbClr val="8E24AA">
              <a:alpha val="85000"/>
            </a:srgbClr>
          </a:solidFill>
          <a:ln w="19050">
            <a:solidFill>
              <a:srgbClr val="8E2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9601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1554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14,969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Composition</a:t>
            </a:r>
            <a:endParaRPr lang="en-US" sz="16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274320" y="2834640"/>
          <a:ext cx="4114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4754880" y="2560320"/>
            <a:ext cx="4114800" cy="22860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Parameters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84632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range: 8 – 30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46320" y="3410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masses: 10–80 M☉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46320" y="37581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BNS masses: 1.0–2.5 M☉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46320" y="41056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rate: 4,096 Hz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46320" y="44531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length: 1–4 sec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Real O1 LIGO data: GW150914, GW151012, GW151226 downloaded from GWOSC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5303520" cy="347472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1D CNN-BiLSTM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937760" cy="292608"/>
          </a:xfrm>
          <a:prstGeom prst="roundRect">
            <a:avLst/>
          </a:prstGeom>
          <a:solidFill>
            <a:srgbClr val="607D8B">
              <a:alpha val="75000"/>
            </a:srgbClr>
          </a:solidFill>
          <a:ln w="6350">
            <a:solidFill>
              <a:srgbClr val="607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(16,384 samples)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937760" cy="292608"/>
          </a:xfrm>
          <a:prstGeom prst="roundRect">
            <a:avLst/>
          </a:prstGeom>
          <a:solidFill>
            <a:srgbClr val="1E88E5">
              <a:alpha val="75000"/>
            </a:srgbClr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 × 3  [32 → 64 → 128 ch]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4937760" cy="292608"/>
          </a:xfrm>
          <a:prstGeom prst="roundRect">
            <a:avLst/>
          </a:prstGeom>
          <a:solidFill>
            <a:srgbClr val="1E88E5">
              <a:alpha val="75000"/>
            </a:srgbClr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933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 × 3  (stride 4 each)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4937760" cy="292608"/>
          </a:xfrm>
          <a:prstGeom prst="roundRect">
            <a:avLst/>
          </a:prstGeom>
          <a:solidFill>
            <a:srgbClr val="00BCD4">
              <a:alpha val="75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408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 (64 hidden × 2 dir)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4937760" cy="292608"/>
          </a:xfrm>
          <a:prstGeom prst="roundRect">
            <a:avLst/>
          </a:prstGeom>
          <a:solidFill>
            <a:srgbClr val="00BCD4">
              <a:alpha val="75000"/>
            </a:srgbClr>
          </a:solidFill>
          <a:ln w="635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8833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4937760" cy="292608"/>
          </a:xfrm>
          <a:prstGeom prst="roundRect">
            <a:avLst/>
          </a:prstGeom>
          <a:solidFill>
            <a:srgbClr val="43A047">
              <a:alpha val="75000"/>
            </a:srgbClr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358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(0.3) → Linear →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410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189,000 parameters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822960"/>
            <a:ext cx="3108960" cy="16002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CNN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120700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Q-transform spectrograms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 → ResNet-18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 pretrained, 1-ch adapted)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21488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11.3M 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2606040"/>
            <a:ext cx="3108960" cy="16002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Baseline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52160" y="2990088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hand-crafted features: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kurtosis, SNR, band energies,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factor, freq sweep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8595360" cy="6400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 AdamW  ·  LR = 5×10⁻⁴  ·  Cosine LR Schedule  ·  Early Stopping (patience 12)  ·  Tesla T4 GPU via Colab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CNN — Loss (3-class)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777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— Loss (Binary)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5486400" y="1051560"/>
          <a:ext cx="33832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474720"/>
            <a:ext cx="8595360" cy="1554480"/>
          </a:xfrm>
          <a:prstGeom prst="roundRect">
            <a:avLst/>
          </a:prstGeom>
          <a:solidFill>
            <a:srgbClr val="0D1B2A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886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training loss falls (0.91 → 0.41) while val loss rises — classic overfitting.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loss stays flat at 0.693 ≈ ln(2) — model cannot find any signal at all.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confirm the 3-class problem is unsolvable without matched-filter preprocessing at SNR 8–30.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Models Failed: Feature Separability Diagnostic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after Whitening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 after Whitening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754880" y="109728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246120"/>
            <a:ext cx="8595360" cy="182880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features overlap at SNR 8–30: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Matched-filter SNR = coherent integral over all frequency bins.  Energy per time sample ≈ SNR / √N ≈ 15 / √4096 ≈ 0.23σ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amplitude per sample is far below noise floor — no local feature can see it.  Matched filtering wins by integrating coherently over thousands of samples.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is why real LIGO searches use matched filtering, and why Deep Learning needs either much larger datasets or matched-filter SNR as an input feature.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by Model &amp; Task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777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Class Recall (3-class)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5486400" y="1051560"/>
          <a:ext cx="33832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49040"/>
            <a:ext cx="8595360" cy="13258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822192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result (66.6%) = majority-class predictor — not real learning.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results (33%) = random chance across all three models.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class: 0% recall — Gaussian noise is indistinguishable from signal + Gaussian noise at these SNRs.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576072"/>
          </a:xfrm>
          <a:prstGeom prst="round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875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end-to-end GW ML pipeline implemented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618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 → preprocessing → 3 models →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36776"/>
            <a:ext cx="8412480" cy="576072"/>
          </a:xfrm>
          <a:prstGeom prst="roundRect">
            <a:avLst/>
          </a:prstGeom>
          <a:solidFill>
            <a:srgbClr val="43A047">
              <a:alpha val="20000"/>
            </a:srgbClr>
          </a:solidFill>
          <a:ln w="12700">
            <a:solidFill>
              <a:srgbClr val="43A04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 O1 LIGO data downloaded and processed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GW150914, GW151012, GW151226 from GWOSC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8412480" cy="576072"/>
          </a:xfrm>
          <a:prstGeom prst="roundRect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408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finding: matched filtering is irreplaceable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1518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fail at realistic SNR 8–30 without 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8412480" cy="576072"/>
          </a:xfrm>
          <a:prstGeom prst="round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Future: matched-filter SNR as input feature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Filtering architecture (Gebhard et al. 2019)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8412480" cy="576072"/>
          </a:xfrm>
          <a:prstGeom prst="round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94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Future: real glitch catalog (Gravity Spy)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96849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Non-Gaussian glitches vs. signals — more separable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8412480" cy="576072"/>
          </a:xfrm>
          <a:prstGeom prst="round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708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Future: two-stage pipeline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451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signal detection · Stage 2: BBH vs. BNS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2026-07-30T15:37:51Z</dcterms:created>
  <dcterms:modified xsi:type="dcterms:W3CDTF">2026-07-30T15:37:51Z</dcterms:modified>
</cp:coreProperties>
</file>